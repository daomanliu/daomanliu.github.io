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147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937760"/>
            <a:ext cx="12191695" cy="1920240"/>
          </a:xfrm>
          <a:prstGeom prst="rect">
            <a:avLst/>
          </a:prstGeom>
          <a:solidFill>
            <a:srgbClr val="14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058400" cy="12801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Markdown 笔记本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51460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Microsoft YaHei"/>
                <a:ea typeface="Microsoft YaHei"/>
              </a:rPr>
              <a:t>基于浏览器的本地优先（localStorage）Markdown 笔记应用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9DC8FF"/>
                </a:solidFill>
                <a:latin typeface="Microsoft YaHei"/>
                <a:ea typeface="Microsoft YaHei"/>
              </a:rPr>
              <a:t>实时预览 · LaTeX 公式 · 标签管理 · 导入 / 导出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212080"/>
            <a:ext cx="1060704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AAD14"/>
                </a:solidFill>
                <a:latin typeface="Microsoft YaHei"/>
                <a:ea typeface="Microsoft YaHei"/>
              </a:rPr>
              <a:t>技术栈：</a:t>
            </a: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Vue 3.5 · Vite 8 · Vue Router 4 · Pinia 3 · Ant Design Vue 4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AAD14"/>
                </a:solidFill>
                <a:latin typeface="Microsoft YaHei"/>
                <a:ea typeface="Microsoft YaHei"/>
              </a:rPr>
              <a:t>定位：</a:t>
            </a:r>
            <a:r>
              <a:rPr sz="1300" b="0">
                <a:solidFill>
                  <a:srgbClr val="C9D4E8"/>
                </a:solidFill>
                <a:latin typeface="Microsoft YaHei"/>
                <a:ea typeface="Microsoft YaHei"/>
              </a:rPr>
              <a:t>纯前端演示项目 — 认证与存储均为前端 Mock，数据保存在浏览器 localStorage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35508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A94AD"/>
                </a:solidFill>
                <a:latin typeface="Microsoft YaHei"/>
                <a:ea typeface="Microsoft YaHei"/>
              </a:rPr>
              <a:t>项目说明 / 技术分享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66928"/>
            <a:ext cx="128016" cy="566928"/>
          </a:xfrm>
          <a:prstGeom prst="roundRect">
            <a:avLst>
              <a:gd name="adj" fmla="val 8000"/>
            </a:avLst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02920"/>
            <a:ext cx="1060704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890FF"/>
                </a:solidFill>
                <a:latin typeface="Microsoft YaHei"/>
                <a:ea typeface="Microsoft YaHei"/>
              </a:rPr>
              <a:t>OVERVIEW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A1A2E"/>
                </a:solidFill>
                <a:latin typeface="Microsoft YaHei"/>
                <a:ea typeface="Microsoft YaHei"/>
              </a:rPr>
              <a:t>项目概览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1091672" cy="17780"/>
          </a:xfrm>
          <a:prstGeom prst="rect">
            <a:avLst/>
          </a:prstGeom>
          <a:solidFill>
            <a:srgbClr val="E5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6492240" cy="4206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890FF"/>
                </a:solidFill>
                <a:latin typeface="Microsoft YaHei"/>
                <a:ea typeface="Microsoft YaHei"/>
              </a:rPr>
              <a:t>• </a:t>
            </a:r>
            <a:r>
              <a:rPr sz="1500" b="1">
                <a:solidFill>
                  <a:srgbClr val="1A1A2E"/>
                </a:solidFill>
                <a:latin typeface="Microsoft YaHei"/>
                <a:ea typeface="Microsoft YaHei"/>
              </a:rPr>
              <a:t>这是什么：</a:t>
            </a:r>
            <a:r>
              <a:rPr sz="1500" b="0">
                <a:solidFill>
                  <a:srgbClr val="1A1A2E"/>
                </a:solidFill>
                <a:latin typeface="Microsoft YaHei"/>
                <a:ea typeface="Microsoft YaHei"/>
              </a:rPr>
              <a:t> 运行在浏览器中的本地优先 Markdown 笔记工具，纯前端、零后端依赖。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890FF"/>
                </a:solidFill>
                <a:latin typeface="Microsoft YaHei"/>
                <a:ea typeface="Microsoft YaHei"/>
              </a:rPr>
              <a:t>• </a:t>
            </a:r>
            <a:r>
              <a:rPr sz="1500" b="1">
                <a:solidFill>
                  <a:srgbClr val="1A1A2E"/>
                </a:solidFill>
                <a:latin typeface="Microsoft YaHei"/>
                <a:ea typeface="Microsoft YaHei"/>
              </a:rPr>
              <a:t>实时预览：</a:t>
            </a:r>
            <a:r>
              <a:rPr sz="1500" b="0">
                <a:solidFill>
                  <a:srgbClr val="1A1A2E"/>
                </a:solidFill>
                <a:latin typeface="Microsoft YaHei"/>
                <a:ea typeface="Microsoft YaHei"/>
              </a:rPr>
              <a:t> 左侧写 Markdown 源码，右侧即时渲染排版效果，无需手动刷新。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890FF"/>
                </a:solidFill>
                <a:latin typeface="Microsoft YaHei"/>
                <a:ea typeface="Microsoft YaHei"/>
              </a:rPr>
              <a:t>• </a:t>
            </a:r>
            <a:r>
              <a:rPr sz="1500" b="1">
                <a:solidFill>
                  <a:srgbClr val="1A1A2E"/>
                </a:solidFill>
                <a:latin typeface="Microsoft YaHei"/>
                <a:ea typeface="Microsoft YaHei"/>
              </a:rPr>
              <a:t>富文本能力：</a:t>
            </a:r>
            <a:r>
              <a:rPr sz="1500" b="0">
                <a:solidFill>
                  <a:srgbClr val="1A1A2E"/>
                </a:solidFill>
                <a:latin typeface="Microsoft YaHei"/>
                <a:ea typeface="Microsoft YaHei"/>
              </a:rPr>
              <a:t> 支持 LaTeX 公式、表格、代码块、列表、引用等完整 Markdown 语法。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890FF"/>
                </a:solidFill>
                <a:latin typeface="Microsoft YaHei"/>
                <a:ea typeface="Microsoft YaHei"/>
              </a:rPr>
              <a:t>• </a:t>
            </a:r>
            <a:r>
              <a:rPr sz="1500" b="1">
                <a:solidFill>
                  <a:srgbClr val="1A1A2E"/>
                </a:solidFill>
                <a:latin typeface="Microsoft YaHei"/>
                <a:ea typeface="Microsoft YaHei"/>
              </a:rPr>
              <a:t>本地优先：</a:t>
            </a:r>
            <a:r>
              <a:rPr sz="1500" b="0">
                <a:solidFill>
                  <a:srgbClr val="1A1A2E"/>
                </a:solidFill>
                <a:latin typeface="Microsoft YaHei"/>
                <a:ea typeface="Microsoft YaHei"/>
              </a:rPr>
              <a:t> 数据保存在浏览器 localStorage，刷新不丢，无需服务器。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890FF"/>
                </a:solidFill>
                <a:latin typeface="Microsoft YaHei"/>
                <a:ea typeface="Microsoft YaHei"/>
              </a:rPr>
              <a:t>• </a:t>
            </a:r>
            <a:r>
              <a:rPr sz="1500" b="1">
                <a:solidFill>
                  <a:srgbClr val="1A1A2E"/>
                </a:solidFill>
                <a:latin typeface="Microsoft YaHei"/>
                <a:ea typeface="Microsoft YaHei"/>
              </a:rPr>
              <a:t>多用户隔离：</a:t>
            </a:r>
            <a:r>
              <a:rPr sz="1500" b="0">
                <a:solidFill>
                  <a:srgbClr val="1A1A2E"/>
                </a:solidFill>
                <a:latin typeface="Microsoft YaHei"/>
                <a:ea typeface="Microsoft YaHei"/>
              </a:rPr>
              <a:t> 按账号命名空间独立存储，账号间互不干扰。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783080"/>
            <a:ext cx="4251960" cy="4160520"/>
          </a:xfrm>
          <a:prstGeom prst="roundRect">
            <a:avLst>
              <a:gd name="adj" fmla="val 8000"/>
            </a:avLst>
          </a:prstGeom>
          <a:solidFill>
            <a:srgbClr val="F7FAFF"/>
          </a:solidFill>
          <a:ln w="12700">
            <a:solidFill>
              <a:srgbClr val="E5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60920" y="1783080"/>
            <a:ext cx="91440" cy="4160520"/>
          </a:xfrm>
          <a:prstGeom prst="rect">
            <a:avLst/>
          </a:prstGeom>
          <a:solidFill>
            <a:srgbClr val="FAA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1929384"/>
            <a:ext cx="3840480" cy="3886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A1A2E"/>
                </a:solidFill>
                <a:latin typeface="Microsoft YaHei"/>
                <a:ea typeface="Microsoft YaHei"/>
              </a:rPr>
              <a:t>当前定位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FAAD14"/>
                </a:solidFill>
                <a:latin typeface="Microsoft YaHei"/>
                <a:ea typeface="Microsoft YaHei"/>
              </a:rPr>
              <a:t>– </a:t>
            </a: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认证为前端 Mock，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FAAD14"/>
                </a:solidFill>
                <a:latin typeface="Microsoft YaHei"/>
                <a:ea typeface="Microsoft YaHei"/>
              </a:rPr>
              <a:t>– </a:t>
            </a: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token 非真实 JWT，仅演示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FAAD14"/>
                </a:solidFill>
                <a:latin typeface="Microsoft YaHei"/>
                <a:ea typeface="Microsoft YaHei"/>
              </a:rPr>
              <a:t>– </a:t>
            </a: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存储为 localStorage，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FAAD14"/>
                </a:solidFill>
                <a:latin typeface="Microsoft YaHei"/>
                <a:ea typeface="Microsoft YaHei"/>
              </a:rPr>
              <a:t>– </a:t>
            </a: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未接入真实后端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FAAD14"/>
                </a:solidFill>
                <a:latin typeface="Microsoft YaHei"/>
                <a:ea typeface="Microsoft YaHei"/>
              </a:rPr>
              <a:t>– </a:t>
            </a: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适合个人写作 / 笔记 /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FAAD14"/>
                </a:solidFill>
                <a:latin typeface="Microsoft YaHei"/>
                <a:ea typeface="Microsoft YaHei"/>
              </a:rPr>
              <a:t>– </a:t>
            </a: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公式记录与快速上手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Markdown 笔记本 · 项目说明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66928"/>
            <a:ext cx="128016" cy="566928"/>
          </a:xfrm>
          <a:prstGeom prst="roundRect">
            <a:avLst>
              <a:gd name="adj" fmla="val 8000"/>
            </a:avLst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02920"/>
            <a:ext cx="1060704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890FF"/>
                </a:solidFill>
                <a:latin typeface="Microsoft YaHei"/>
                <a:ea typeface="Microsoft YaHei"/>
              </a:rPr>
              <a:t>FEATURES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A1A2E"/>
                </a:solidFill>
                <a:latin typeface="Microsoft YaHei"/>
                <a:ea typeface="Microsoft YaHei"/>
              </a:rPr>
              <a:t>核心功能特性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1091672" cy="17780"/>
          </a:xfrm>
          <a:prstGeom prst="rect">
            <a:avLst/>
          </a:prstGeom>
          <a:solidFill>
            <a:srgbClr val="E5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697480" cy="2148840"/>
          </a:xfrm>
          <a:prstGeom prst="roundRect">
            <a:avLst>
              <a:gd name="adj" fmla="val 8000"/>
            </a:avLst>
          </a:prstGeom>
          <a:solidFill>
            <a:srgbClr val="F7FAFF"/>
          </a:solidFill>
          <a:ln w="12700">
            <a:solidFill>
              <a:srgbClr val="E5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91440" cy="2148840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29384"/>
            <a:ext cx="2286000" cy="1874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A1A2E"/>
                </a:solidFill>
                <a:latin typeface="Microsoft YaHei"/>
                <a:ea typeface="Microsoft YaHei"/>
              </a:rPr>
              <a:t>账号体系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模拟登录 / 登出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路由守卫控制访问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登录态持久化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783080"/>
            <a:ext cx="2697480" cy="2148840"/>
          </a:xfrm>
          <a:prstGeom prst="roundRect">
            <a:avLst>
              <a:gd name="adj" fmla="val 8000"/>
            </a:avLst>
          </a:prstGeom>
          <a:solidFill>
            <a:srgbClr val="F7FAFF"/>
          </a:solidFill>
          <a:ln w="12700">
            <a:solidFill>
              <a:srgbClr val="E5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64992" y="1783080"/>
            <a:ext cx="91440" cy="2148840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929384"/>
            <a:ext cx="2286000" cy="1874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A1A2E"/>
                </a:solidFill>
                <a:latin typeface="Microsoft YaHei"/>
                <a:ea typeface="Microsoft YaHei"/>
              </a:rPr>
              <a:t>笔记管理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新建 / 删除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收藏（星标）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防抖 300ms 自动保存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83080"/>
            <a:ext cx="2697480" cy="2148840"/>
          </a:xfrm>
          <a:prstGeom prst="roundRect">
            <a:avLst>
              <a:gd name="adj" fmla="val 8000"/>
            </a:avLst>
          </a:prstGeom>
          <a:solidFill>
            <a:srgbClr val="F7FAFF"/>
          </a:solidFill>
          <a:ln w="12700">
            <a:solidFill>
              <a:srgbClr val="E5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83080"/>
            <a:ext cx="91440" cy="2148840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1929384"/>
            <a:ext cx="2286000" cy="1874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A1A2E"/>
                </a:solidFill>
                <a:latin typeface="Microsoft YaHei"/>
                <a:ea typeface="Microsoft YaHei"/>
              </a:rPr>
              <a:t>分屏编辑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左编辑右预览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可折叠 / 全屏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专注写作模式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7696" y="1783080"/>
            <a:ext cx="2697480" cy="2148840"/>
          </a:xfrm>
          <a:prstGeom prst="roundRect">
            <a:avLst>
              <a:gd name="adj" fmla="val 8000"/>
            </a:avLst>
          </a:prstGeom>
          <a:solidFill>
            <a:srgbClr val="F7FAFF"/>
          </a:solidFill>
          <a:ln w="12700">
            <a:solidFill>
              <a:srgbClr val="E5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97696" y="1783080"/>
            <a:ext cx="91440" cy="2148840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53728" y="1929384"/>
            <a:ext cx="2286000" cy="1874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A1A2E"/>
                </a:solidFill>
                <a:latin typeface="Microsoft YaHei"/>
                <a:ea typeface="Microsoft YaHei"/>
              </a:rPr>
              <a:t>富文本渲染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marked 解析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KaTeX 公式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DOMPurify 防 XSS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96512"/>
            <a:ext cx="2697480" cy="2148840"/>
          </a:xfrm>
          <a:prstGeom prst="roundRect">
            <a:avLst>
              <a:gd name="adj" fmla="val 8000"/>
            </a:avLst>
          </a:prstGeom>
          <a:solidFill>
            <a:srgbClr val="F7FAFF"/>
          </a:solidFill>
          <a:ln w="12700">
            <a:solidFill>
              <a:srgbClr val="E5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096512"/>
            <a:ext cx="91440" cy="2148840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242816"/>
            <a:ext cx="2286000" cy="1874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A1A2E"/>
                </a:solidFill>
                <a:latin typeface="Microsoft YaHei"/>
                <a:ea typeface="Microsoft YaHei"/>
              </a:rPr>
              <a:t>全文搜索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标题 / 正文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标签实时过滤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边输入边筛选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64992" y="4096512"/>
            <a:ext cx="2697480" cy="2148840"/>
          </a:xfrm>
          <a:prstGeom prst="roundRect">
            <a:avLst>
              <a:gd name="adj" fmla="val 8000"/>
            </a:avLst>
          </a:prstGeom>
          <a:solidFill>
            <a:srgbClr val="F7FAFF"/>
          </a:solidFill>
          <a:ln w="12700">
            <a:solidFill>
              <a:srgbClr val="E5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64992" y="4096512"/>
            <a:ext cx="91440" cy="2148840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21024" y="4242816"/>
            <a:ext cx="2286000" cy="1874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A1A2E"/>
                </a:solidFill>
                <a:latin typeface="Microsoft YaHei"/>
                <a:ea typeface="Microsoft YaHei"/>
              </a:rPr>
              <a:t>标签系统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用户级标签空间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新增 / 重命名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删除同步到笔记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4096512"/>
            <a:ext cx="2697480" cy="2148840"/>
          </a:xfrm>
          <a:prstGeom prst="roundRect">
            <a:avLst>
              <a:gd name="adj" fmla="val 8000"/>
            </a:avLst>
          </a:prstGeom>
          <a:solidFill>
            <a:srgbClr val="F7FAFF"/>
          </a:solidFill>
          <a:ln w="12700">
            <a:solidFill>
              <a:srgbClr val="E5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1344" y="4096512"/>
            <a:ext cx="91440" cy="2148840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7376" y="4242816"/>
            <a:ext cx="2286000" cy="1874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A1A2E"/>
                </a:solidFill>
                <a:latin typeface="Microsoft YaHei"/>
                <a:ea typeface="Microsoft YaHei"/>
              </a:rPr>
              <a:t>导入 / 导出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JSON 结构化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Markdown 纯文本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合并 / 覆盖导入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97696" y="4096512"/>
            <a:ext cx="2697480" cy="2148840"/>
          </a:xfrm>
          <a:prstGeom prst="roundRect">
            <a:avLst>
              <a:gd name="adj" fmla="val 8000"/>
            </a:avLst>
          </a:prstGeom>
          <a:solidFill>
            <a:srgbClr val="F7FAFF"/>
          </a:solidFill>
          <a:ln w="12700">
            <a:solidFill>
              <a:srgbClr val="E5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97696" y="4096512"/>
            <a:ext cx="91440" cy="2148840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53728" y="4242816"/>
            <a:ext cx="2286000" cy="1874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A1A2E"/>
                </a:solidFill>
                <a:latin typeface="Microsoft YaHei"/>
                <a:ea typeface="Microsoft YaHei"/>
              </a:rPr>
              <a:t>多用户隔离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按用户名命名空间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互不看到对方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退出即清空内存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Markdown 笔记本 · 项目说明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66928"/>
            <a:ext cx="128016" cy="566928"/>
          </a:xfrm>
          <a:prstGeom prst="roundRect">
            <a:avLst>
              <a:gd name="adj" fmla="val 8000"/>
            </a:avLst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02920"/>
            <a:ext cx="1060704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890FF"/>
                </a:solidFill>
                <a:latin typeface="Microsoft YaHei"/>
                <a:ea typeface="Microsoft YaHei"/>
              </a:rPr>
              <a:t>TECH STACK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A1A2E"/>
                </a:solidFill>
                <a:latin typeface="Microsoft YaHei"/>
                <a:ea typeface="Microsoft YaHei"/>
              </a:rPr>
              <a:t>技术栈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1091672" cy="17780"/>
          </a:xfrm>
          <a:prstGeom prst="rect">
            <a:avLst/>
          </a:prstGeom>
          <a:solidFill>
            <a:srgbClr val="E5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3108960" cy="5669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31920" y="1828800"/>
            <a:ext cx="7315200" cy="5669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292608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分类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828800"/>
            <a:ext cx="70866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选型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395728"/>
            <a:ext cx="3108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31920" y="2395728"/>
            <a:ext cx="7315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395728"/>
            <a:ext cx="292608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Microsoft YaHei"/>
                <a:ea typeface="Microsoft YaHei"/>
              </a:rPr>
              <a:t>框架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395728"/>
            <a:ext cx="70866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Vue 3.5（&lt;script setup&gt; 组合式 API）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962656"/>
            <a:ext cx="3108960" cy="566928"/>
          </a:xfrm>
          <a:prstGeom prst="rect">
            <a:avLst/>
          </a:prstGeom>
          <a:solidFill>
            <a:srgbClr val="F2F8FF"/>
          </a:solidFill>
          <a:ln w="9525">
            <a:solidFill>
              <a:srgbClr val="E5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1920" y="2962656"/>
            <a:ext cx="7315200" cy="566928"/>
          </a:xfrm>
          <a:prstGeom prst="rect">
            <a:avLst/>
          </a:prstGeom>
          <a:solidFill>
            <a:srgbClr val="F2F8FF"/>
          </a:solidFill>
          <a:ln w="9525">
            <a:solidFill>
              <a:srgbClr val="E5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962656"/>
            <a:ext cx="292608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Microsoft YaHei"/>
                <a:ea typeface="Microsoft YaHei"/>
              </a:rPr>
              <a:t>构建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2962656"/>
            <a:ext cx="70866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Vite 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529584"/>
            <a:ext cx="3108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31920" y="3529584"/>
            <a:ext cx="7315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529584"/>
            <a:ext cx="292608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Microsoft YaHei"/>
                <a:ea typeface="Microsoft YaHei"/>
              </a:rPr>
              <a:t>路由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3529584"/>
            <a:ext cx="70866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Vue Router 4（createWebHashHistory）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096512"/>
            <a:ext cx="3108960" cy="566928"/>
          </a:xfrm>
          <a:prstGeom prst="rect">
            <a:avLst/>
          </a:prstGeom>
          <a:solidFill>
            <a:srgbClr val="F2F8FF"/>
          </a:solidFill>
          <a:ln w="9525">
            <a:solidFill>
              <a:srgbClr val="E5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31920" y="4096512"/>
            <a:ext cx="7315200" cy="566928"/>
          </a:xfrm>
          <a:prstGeom prst="rect">
            <a:avLst/>
          </a:prstGeom>
          <a:solidFill>
            <a:srgbClr val="F2F8FF"/>
          </a:solidFill>
          <a:ln w="9525">
            <a:solidFill>
              <a:srgbClr val="E5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096512"/>
            <a:ext cx="292608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Microsoft YaHei"/>
                <a:ea typeface="Microsoft YaHei"/>
              </a:rPr>
              <a:t>状态管理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4096512"/>
            <a:ext cx="70866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Pinia 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4663440"/>
            <a:ext cx="3108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931920" y="4663440"/>
            <a:ext cx="7315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663440"/>
            <a:ext cx="292608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Microsoft YaHei"/>
                <a:ea typeface="Microsoft YaHei"/>
              </a:rPr>
              <a:t>UI 组件库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4663440"/>
            <a:ext cx="70866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Ant Design Vue 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5230368"/>
            <a:ext cx="3108960" cy="566928"/>
          </a:xfrm>
          <a:prstGeom prst="rect">
            <a:avLst/>
          </a:prstGeom>
          <a:solidFill>
            <a:srgbClr val="F2F8FF"/>
          </a:solidFill>
          <a:ln w="9525">
            <a:solidFill>
              <a:srgbClr val="E5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31920" y="5230368"/>
            <a:ext cx="7315200" cy="566928"/>
          </a:xfrm>
          <a:prstGeom prst="rect">
            <a:avLst/>
          </a:prstGeom>
          <a:solidFill>
            <a:srgbClr val="F2F8FF"/>
          </a:solidFill>
          <a:ln w="9525">
            <a:solidFill>
              <a:srgbClr val="E5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230368"/>
            <a:ext cx="292608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Microsoft YaHei"/>
                <a:ea typeface="Microsoft YaHei"/>
              </a:rPr>
              <a:t>渲染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0520" y="5230368"/>
            <a:ext cx="70866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marked + katex + dompurify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5797296"/>
            <a:ext cx="3108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31920" y="5797296"/>
            <a:ext cx="7315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797296"/>
            <a:ext cx="292608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Microsoft YaHei"/>
                <a:ea typeface="Microsoft YaHei"/>
              </a:rPr>
              <a:t>存储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5797296"/>
            <a:ext cx="70866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浏览器 localStorage（按用户命名空间隔离）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Markdown 笔记本 · 项目说明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44652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66928"/>
            <a:ext cx="128016" cy="566928"/>
          </a:xfrm>
          <a:prstGeom prst="roundRect">
            <a:avLst>
              <a:gd name="adj" fmla="val 8000"/>
            </a:avLst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02920"/>
            <a:ext cx="1060704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890FF"/>
                </a:solidFill>
                <a:latin typeface="Microsoft YaHei"/>
                <a:ea typeface="Microsoft YaHei"/>
              </a:rPr>
              <a:t>PROJECT STRUCTURE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A1A2E"/>
                </a:solidFill>
                <a:latin typeface="Microsoft YaHei"/>
                <a:ea typeface="Microsoft YaHei"/>
              </a:rPr>
              <a:t>项目结构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1091672" cy="17780"/>
          </a:xfrm>
          <a:prstGeom prst="rect">
            <a:avLst/>
          </a:prstGeom>
          <a:solidFill>
            <a:srgbClr val="E5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91672" cy="4297680"/>
          </a:xfrm>
          <a:prstGeom prst="roundRect">
            <a:avLst>
              <a:gd name="adj" fmla="val 8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my-project/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├── public/                 静态资源（logo、背景、头像、favicon）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├── src/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│   ├── api/auth.js          模拟后端：登录 / 获取用户信息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│   ├── components/NoteList.vue   左侧笔记列表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│   ├── router/index.js      路由表 + 全局前置守卫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│   ├── stores/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│   │   ├── auth.js          登录态（token / user）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│   │   └── notes.js         笔记 &amp; 标签状态、持久化、导入导出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│   ├── utils/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│   │   ├── datetime.js      日期格式化（当天显示时分）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│   │   ├── id.js            笔记唯一 id 生成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│   │   └── markdown.js      Markdown + KaTeX + DOMPurify 渲染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│   ├── views/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│   │   ├── LoginView.vue    登录页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│   │   ├── NoteLayout.vue   主框架（顶栏/侧栏/导入导出/标签）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│   │   └── EditorView.vue   编辑器（标题/标签/分屏预览）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│   ├── App.vue              根组件（router-view）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│   └── main.js              入口：Pinia/Router/Antd + 登录态初始化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├── index.html               应用入口 HTML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├── vite.config.js           Vite 配置（@ 别名指向 src）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└── package.json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Markdown 笔记本 · 项目说明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66928"/>
            <a:ext cx="128016" cy="566928"/>
          </a:xfrm>
          <a:prstGeom prst="roundRect">
            <a:avLst>
              <a:gd name="adj" fmla="val 8000"/>
            </a:avLst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02920"/>
            <a:ext cx="1060704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890FF"/>
                </a:solidFill>
                <a:latin typeface="Microsoft YaHei"/>
                <a:ea typeface="Microsoft YaHei"/>
              </a:rPr>
              <a:t>ARCHITECTURE / DATA ISOLATION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A1A2E"/>
                </a:solidFill>
                <a:latin typeface="Microsoft YaHei"/>
                <a:ea typeface="Microsoft YaHei"/>
              </a:rPr>
              <a:t>架构设计 · 数据隔离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1091672" cy="17780"/>
          </a:xfrm>
          <a:prstGeom prst="rect">
            <a:avLst/>
          </a:prstGeom>
          <a:solidFill>
            <a:srgbClr val="E5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6035040" cy="4023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1890FF"/>
                </a:solidFill>
                <a:latin typeface="Microsoft YaHei"/>
                <a:ea typeface="Microsoft YaHei"/>
              </a:rPr>
              <a:t>• </a:t>
            </a:r>
            <a:r>
              <a:rPr sz="1500" b="1">
                <a:solidFill>
                  <a:srgbClr val="1A1A2E"/>
                </a:solidFill>
                <a:latin typeface="Microsoft YaHei"/>
                <a:ea typeface="Microsoft YaHei"/>
              </a:rPr>
              <a:t>命名空间隔离：</a:t>
            </a:r>
            <a:r>
              <a:rPr sz="1500" b="0">
                <a:solidFill>
                  <a:srgbClr val="1A1A2E"/>
                </a:solidFill>
                <a:latin typeface="Microsoft YaHei"/>
                <a:ea typeface="Microsoft YaHei"/>
              </a:rPr>
              <a:t> 每个用户使用独立的 localStorage key，互不干扰。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1890FF"/>
                </a:solidFill>
                <a:latin typeface="Microsoft YaHei"/>
                <a:ea typeface="Microsoft YaHei"/>
              </a:rPr>
              <a:t>• </a:t>
            </a:r>
            <a:r>
              <a:rPr sz="1500" b="1">
                <a:solidFill>
                  <a:srgbClr val="1A1A2E"/>
                </a:solidFill>
                <a:latin typeface="Microsoft YaHei"/>
                <a:ea typeface="Microsoft YaHei"/>
              </a:rPr>
              <a:t>切换 / 退出：</a:t>
            </a:r>
            <a:r>
              <a:rPr sz="1500" b="0">
                <a:solidFill>
                  <a:srgbClr val="1A1A2E"/>
                </a:solidFill>
                <a:latin typeface="Microsoft YaHei"/>
                <a:ea typeface="Microsoft YaHei"/>
              </a:rPr>
              <a:t> 调用 reset() 清空内存数据，避免串号。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1890FF"/>
                </a:solidFill>
                <a:latin typeface="Microsoft YaHei"/>
                <a:ea typeface="Microsoft YaHei"/>
              </a:rPr>
              <a:t>• </a:t>
            </a:r>
            <a:r>
              <a:rPr sz="1500" b="1">
                <a:solidFill>
                  <a:srgbClr val="1A1A2E"/>
                </a:solidFill>
                <a:latin typeface="Microsoft YaHei"/>
                <a:ea typeface="Microsoft YaHei"/>
              </a:rPr>
              <a:t>真实后端建议：</a:t>
            </a:r>
            <a:r>
              <a:rPr sz="1500" b="0">
                <a:solidFill>
                  <a:srgbClr val="1A1A2E"/>
                </a:solidFill>
                <a:latin typeface="Microsoft YaHei"/>
                <a:ea typeface="Microsoft YaHei"/>
              </a:rPr>
              <a:t> 改为服务端按用户过滤，前端只请求自己的数据。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828800"/>
            <a:ext cx="4873752" cy="1828800"/>
          </a:xfrm>
          <a:prstGeom prst="roundRect">
            <a:avLst>
              <a:gd name="adj" fmla="val 8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  <a:ea typeface="Consolas"/>
              </a:rPr>
              <a:t>// 笔记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  <a:ea typeface="Consolas"/>
              </a:rPr>
              <a:t>markdown-notes-&lt;username&gt;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  <a:ea typeface="Consolas"/>
              </a:rPr>
              <a:t>// 标签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  <a:ea typeface="Consolas"/>
              </a:rPr>
              <a:t>markdown-note-tags-&lt;username&gt;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3886200"/>
            <a:ext cx="4873752" cy="2057400"/>
          </a:xfrm>
          <a:prstGeom prst="roundRect">
            <a:avLst>
              <a:gd name="adj" fmla="val 8000"/>
            </a:avLst>
          </a:prstGeom>
          <a:solidFill>
            <a:srgbClr val="F7FAFF"/>
          </a:solidFill>
          <a:ln w="12700">
            <a:solidFill>
              <a:srgbClr val="E5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66560" y="3886200"/>
            <a:ext cx="91440" cy="2057400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22592" y="4032504"/>
            <a:ext cx="4462272" cy="1783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A1A2E"/>
                </a:solidFill>
                <a:latin typeface="Microsoft YaHei"/>
                <a:ea typeface="Microsoft YaHei"/>
              </a:rPr>
              <a:t>设计要点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key 由当前登录用户名拼接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切换用户只载入自己的文档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退出登录即清空内存数据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Markdown 笔记本 · 项目说明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66928"/>
            <a:ext cx="128016" cy="566928"/>
          </a:xfrm>
          <a:prstGeom prst="roundRect">
            <a:avLst>
              <a:gd name="adj" fmla="val 8000"/>
            </a:avLst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02920"/>
            <a:ext cx="1060704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890FF"/>
                </a:solidFill>
                <a:latin typeface="Microsoft YaHei"/>
                <a:ea typeface="Microsoft YaHei"/>
              </a:rPr>
              <a:t>ARCHITECTURE / RENDER PIPELINE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A1A2E"/>
                </a:solidFill>
                <a:latin typeface="Microsoft YaHei"/>
                <a:ea typeface="Microsoft YaHei"/>
              </a:rPr>
              <a:t>架构设计 · 渲染流水线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1091672" cy="17780"/>
          </a:xfrm>
          <a:prstGeom prst="rect">
            <a:avLst/>
          </a:prstGeom>
          <a:solidFill>
            <a:srgbClr val="E5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943600" cy="4114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1890FF"/>
                </a:solidFill>
                <a:latin typeface="Microsoft YaHei"/>
                <a:ea typeface="Microsoft YaHei"/>
              </a:rPr>
              <a:t>• </a:t>
            </a:r>
            <a:r>
              <a:rPr sz="1450" b="1">
                <a:solidFill>
                  <a:srgbClr val="1A1A2E"/>
                </a:solidFill>
                <a:latin typeface="Microsoft YaHei"/>
                <a:ea typeface="Microsoft YaHei"/>
              </a:rPr>
              <a:t>① 抽离公式：</a:t>
            </a:r>
            <a:r>
              <a:rPr sz="1450" b="0">
                <a:solidFill>
                  <a:srgbClr val="1A1A2E"/>
                </a:solidFill>
                <a:latin typeface="Microsoft YaHei"/>
                <a:ea typeface="Microsoft YaHei"/>
              </a:rPr>
              <a:t> 把 $...$ / $$...$$ 替换为占位符，避免与 Markdown 冲突。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1890FF"/>
                </a:solidFill>
                <a:latin typeface="Microsoft YaHei"/>
                <a:ea typeface="Microsoft YaHei"/>
              </a:rPr>
              <a:t>• </a:t>
            </a:r>
            <a:r>
              <a:rPr sz="1450" b="1">
                <a:solidFill>
                  <a:srgbClr val="1A1A2E"/>
                </a:solidFill>
                <a:latin typeface="Microsoft YaHei"/>
                <a:ea typeface="Microsoft YaHei"/>
              </a:rPr>
              <a:t>② 渲染：</a:t>
            </a:r>
            <a:r>
              <a:rPr sz="1450" b="0">
                <a:solidFill>
                  <a:srgbClr val="1A1A2E"/>
                </a:solidFill>
                <a:latin typeface="Microsoft YaHei"/>
                <a:ea typeface="Microsoft YaHei"/>
              </a:rPr>
              <a:t> marked.parse() 渲染 Markdown 为 HTML。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1890FF"/>
                </a:solidFill>
                <a:latin typeface="Microsoft YaHei"/>
                <a:ea typeface="Microsoft YaHei"/>
              </a:rPr>
              <a:t>• </a:t>
            </a:r>
            <a:r>
              <a:rPr sz="1450" b="1">
                <a:solidFill>
                  <a:srgbClr val="1A1A2E"/>
                </a:solidFill>
                <a:latin typeface="Microsoft YaHei"/>
                <a:ea typeface="Microsoft YaHei"/>
              </a:rPr>
              <a:t>③ 净化：</a:t>
            </a:r>
            <a:r>
              <a:rPr sz="1450" b="0">
                <a:solidFill>
                  <a:srgbClr val="1A1A2E"/>
                </a:solidFill>
                <a:latin typeface="Microsoft YaHei"/>
                <a:ea typeface="Microsoft YaHei"/>
              </a:rPr>
              <a:t> DOMPurify.sanitize() 防 XSS。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1890FF"/>
                </a:solidFill>
                <a:latin typeface="Microsoft YaHei"/>
                <a:ea typeface="Microsoft YaHei"/>
              </a:rPr>
              <a:t>• </a:t>
            </a:r>
            <a:r>
              <a:rPr sz="1450" b="1">
                <a:solidFill>
                  <a:srgbClr val="1A1A2E"/>
                </a:solidFill>
                <a:latin typeface="Microsoft YaHei"/>
                <a:ea typeface="Microsoft YaHei"/>
              </a:rPr>
              <a:t>④ 还原公式：</a:t>
            </a:r>
            <a:r>
              <a:rPr sz="1450" b="0">
                <a:solidFill>
                  <a:srgbClr val="1A1A2E"/>
                </a:solidFill>
                <a:latin typeface="Microsoft YaHei"/>
                <a:ea typeface="Microsoft YaHei"/>
              </a:rPr>
              <a:t> 将占位符还原为 KaTeX 生成的公式 HTML。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1890FF"/>
                </a:solidFill>
                <a:latin typeface="Microsoft YaHei"/>
                <a:ea typeface="Microsoft YaHei"/>
              </a:rPr>
              <a:t>• </a:t>
            </a:r>
            <a:r>
              <a:rPr sz="1450" b="1">
                <a:solidFill>
                  <a:srgbClr val="1A1A2E"/>
                </a:solidFill>
                <a:latin typeface="Microsoft YaHei"/>
                <a:ea typeface="Microsoft YaHei"/>
              </a:rPr>
              <a:t>复用：</a:t>
            </a:r>
            <a:r>
              <a:rPr sz="1450" b="0">
                <a:solidFill>
                  <a:srgbClr val="1A1A2E"/>
                </a:solidFill>
                <a:latin typeface="Microsoft YaHei"/>
                <a:ea typeface="Microsoft YaHei"/>
              </a:rPr>
              <a:t> 编辑器预览与导出共用同一 renderMarkdown，结果一致。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828800"/>
            <a:ext cx="4919472" cy="4114800"/>
          </a:xfrm>
          <a:prstGeom prst="roundRect">
            <a:avLst>
              <a:gd name="adj" fmla="val 8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export function renderMarkdown(md) {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  const { text, store } = renderMath(md)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  let html = marked.parse(text,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                  { breaks: true })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  html = DOMPurify.sanitize(html)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  // 还原 KaTeX 公式 HTML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  html = html.replace(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    /@@KATEX(\d+)@@/g,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    (_, i) =&gt; store[+i] || '')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  return html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Markdown 笔记本 · 项目说明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66928"/>
            <a:ext cx="128016" cy="566928"/>
          </a:xfrm>
          <a:prstGeom prst="roundRect">
            <a:avLst>
              <a:gd name="adj" fmla="val 8000"/>
            </a:avLst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02920"/>
            <a:ext cx="1060704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890FF"/>
                </a:solidFill>
                <a:latin typeface="Microsoft YaHei"/>
                <a:ea typeface="Microsoft YaHei"/>
              </a:rPr>
              <a:t>ARCHITECTURE / AUTOSAVE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A1A2E"/>
                </a:solidFill>
                <a:latin typeface="Microsoft YaHei"/>
                <a:ea typeface="Microsoft YaHei"/>
              </a:rPr>
              <a:t>架构设计 · 自动保存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1091672" cy="17780"/>
          </a:xfrm>
          <a:prstGeom prst="rect">
            <a:avLst/>
          </a:prstGeom>
          <a:solidFill>
            <a:srgbClr val="E5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943600" cy="4023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1890FF"/>
                </a:solidFill>
                <a:latin typeface="Microsoft YaHei"/>
                <a:ea typeface="Microsoft YaHei"/>
              </a:rPr>
              <a:t>• </a:t>
            </a:r>
            <a:r>
              <a:rPr sz="1500" b="1">
                <a:solidFill>
                  <a:srgbClr val="1A1A2E"/>
                </a:solidFill>
                <a:latin typeface="Microsoft YaHei"/>
                <a:ea typeface="Microsoft YaHei"/>
              </a:rPr>
              <a:t>输入防抖：</a:t>
            </a:r>
            <a:r>
              <a:rPr sz="1500" b="0">
                <a:solidFill>
                  <a:srgbClr val="1A1A2E"/>
                </a:solidFill>
                <a:latin typeface="Microsoft YaHei"/>
                <a:ea typeface="Microsoft YaHei"/>
              </a:rPr>
              <a:t> EditorView 对正文输入做 300ms 防抖。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1890FF"/>
                </a:solidFill>
                <a:latin typeface="Microsoft YaHei"/>
                <a:ea typeface="Microsoft YaHei"/>
              </a:rPr>
              <a:t>• </a:t>
            </a:r>
            <a:r>
              <a:rPr sz="1500" b="1">
                <a:solidFill>
                  <a:srgbClr val="1A1A2E"/>
                </a:solidFill>
                <a:latin typeface="Microsoft YaHei"/>
                <a:ea typeface="Microsoft YaHei"/>
              </a:rPr>
              <a:t>更新状态：</a:t>
            </a:r>
            <a:r>
              <a:rPr sz="1500" b="0">
                <a:solidFill>
                  <a:srgbClr val="1A1A2E"/>
                </a:solidFill>
                <a:latin typeface="Microsoft YaHei"/>
                <a:ea typeface="Microsoft YaHei"/>
              </a:rPr>
              <a:t> 防抖结束后调用 store.updateNote()。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1890FF"/>
                </a:solidFill>
                <a:latin typeface="Microsoft YaHei"/>
                <a:ea typeface="Microsoft YaHei"/>
              </a:rPr>
              <a:t>• </a:t>
            </a:r>
            <a:r>
              <a:rPr sz="1500" b="1">
                <a:solidFill>
                  <a:srgbClr val="1A1A2E"/>
                </a:solidFill>
                <a:latin typeface="Microsoft YaHei"/>
                <a:ea typeface="Microsoft YaHei"/>
              </a:rPr>
              <a:t>深度监听：</a:t>
            </a:r>
            <a:r>
              <a:rPr sz="1500" b="0">
                <a:solidFill>
                  <a:srgbClr val="1A1A2E"/>
                </a:solidFill>
                <a:latin typeface="Microsoft YaHei"/>
                <a:ea typeface="Microsoft YaHei"/>
              </a:rPr>
              <a:t> notes store 通过 watch(notes, {deep:true}) 监听。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1890FF"/>
                </a:solidFill>
                <a:latin typeface="Microsoft YaHei"/>
                <a:ea typeface="Microsoft YaHei"/>
              </a:rPr>
              <a:t>• </a:t>
            </a:r>
            <a:r>
              <a:rPr sz="1500" b="1">
                <a:solidFill>
                  <a:srgbClr val="1A1A2E"/>
                </a:solidFill>
                <a:latin typeface="Microsoft YaHei"/>
                <a:ea typeface="Microsoft YaHei"/>
              </a:rPr>
              <a:t>即时落盘：</a:t>
            </a:r>
            <a:r>
              <a:rPr sz="1500" b="0">
                <a:solidFill>
                  <a:srgbClr val="1A1A2E"/>
                </a:solidFill>
                <a:latin typeface="Microsoft YaHei"/>
                <a:ea typeface="Microsoft YaHei"/>
              </a:rPr>
              <a:t> 任何变更即时写入 localStorage，无需手动保存。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828800"/>
            <a:ext cx="4919472" cy="4023360"/>
          </a:xfrm>
          <a:prstGeom prst="roundRect">
            <a:avLst>
              <a:gd name="adj" fmla="val 8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50">
                <a:solidFill>
                  <a:srgbClr val="E6EDF3"/>
                </a:solidFill>
                <a:latin typeface="Consolas"/>
                <a:ea typeface="Consolas"/>
              </a:rPr>
              <a:t>// EditorView.vue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150">
                <a:solidFill>
                  <a:srgbClr val="E6EDF3"/>
                </a:solidFill>
                <a:latin typeface="Consolas"/>
                <a:ea typeface="Consolas"/>
              </a:rPr>
              <a:t>let saveTimer = null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150">
                <a:solidFill>
                  <a:srgbClr val="E6EDF3"/>
                </a:solidFill>
                <a:latin typeface="Consolas"/>
                <a:ea typeface="Consolas"/>
              </a:rPr>
              <a:t>function updateContent() {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150">
                <a:solidFill>
                  <a:srgbClr val="E6EDF3"/>
                </a:solidFill>
                <a:latin typeface="Consolas"/>
                <a:ea typeface="Consolas"/>
              </a:rPr>
              <a:t>  clearTimeout(saveTimer)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150">
                <a:solidFill>
                  <a:srgbClr val="E6EDF3"/>
                </a:solidFill>
                <a:latin typeface="Consolas"/>
                <a:ea typeface="Consolas"/>
              </a:rPr>
              <a:t>  saveTimer = setTimeout(() =&gt; {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150">
                <a:solidFill>
                  <a:srgbClr val="E6EDF3"/>
                </a:solidFill>
                <a:latin typeface="Consolas"/>
                <a:ea typeface="Consolas"/>
              </a:rPr>
              <a:t>    store.updateNote(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150">
                <a:solidFill>
                  <a:srgbClr val="E6EDF3"/>
                </a:solidFill>
                <a:latin typeface="Consolas"/>
                <a:ea typeface="Consolas"/>
              </a:rPr>
              <a:t>      note.value.id,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150">
                <a:solidFill>
                  <a:srgbClr val="E6EDF3"/>
                </a:solidFill>
                <a:latin typeface="Consolas"/>
                <a:ea typeface="Consolas"/>
              </a:rPr>
              <a:t>      { content: note.value.content })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150">
                <a:solidFill>
                  <a:srgbClr val="E6EDF3"/>
                </a:solidFill>
                <a:latin typeface="Consolas"/>
                <a:ea typeface="Consolas"/>
              </a:rPr>
              <a:t>  }, 300)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150">
                <a:solidFill>
                  <a:srgbClr val="E6EDF3"/>
                </a:solidFill>
                <a:latin typeface="Consolas"/>
                <a:ea typeface="Consolas"/>
              </a:rPr>
              <a:t>}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150">
                <a:solidFill>
                  <a:srgbClr val="E6EDF3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150">
                <a:solidFill>
                  <a:srgbClr val="E6EDF3"/>
                </a:solidFill>
                <a:latin typeface="Consolas"/>
                <a:ea typeface="Consolas"/>
              </a:rPr>
              <a:t>// stores/notes.js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150">
                <a:solidFill>
                  <a:srgbClr val="E6EDF3"/>
                </a:solidFill>
                <a:latin typeface="Consolas"/>
                <a:ea typeface="Consolas"/>
              </a:rPr>
              <a:t>watch(notes, (val) =&gt;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150">
                <a:solidFill>
                  <a:srgbClr val="E6EDF3"/>
                </a:solidFill>
                <a:latin typeface="Consolas"/>
                <a:ea typeface="Consolas"/>
              </a:rPr>
              <a:t>  localStorage.setItem(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150">
                <a:solidFill>
                  <a:srgbClr val="E6EDF3"/>
                </a:solidFill>
                <a:latin typeface="Consolas"/>
                <a:ea typeface="Consolas"/>
              </a:rPr>
              <a:t>    notesKey(), JSON.stringify(val))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150">
                <a:solidFill>
                  <a:srgbClr val="E6EDF3"/>
                </a:solidFill>
                <a:latin typeface="Consolas"/>
                <a:ea typeface="Consolas"/>
              </a:rPr>
              <a:t>, { deep: true })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Markdown 笔记本 · 项目说明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66928"/>
            <a:ext cx="128016" cy="566928"/>
          </a:xfrm>
          <a:prstGeom prst="roundRect">
            <a:avLst>
              <a:gd name="adj" fmla="val 8000"/>
            </a:avLst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02920"/>
            <a:ext cx="1060704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890FF"/>
                </a:solidFill>
                <a:latin typeface="Microsoft YaHei"/>
                <a:ea typeface="Microsoft YaHei"/>
              </a:rPr>
              <a:t>AUTH &amp; ROUTING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A1A2E"/>
                </a:solidFill>
                <a:latin typeface="Microsoft YaHei"/>
                <a:ea typeface="Microsoft YaHei"/>
              </a:rPr>
              <a:t>用户体系与路由守卫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1091672" cy="17780"/>
          </a:xfrm>
          <a:prstGeom prst="rect">
            <a:avLst/>
          </a:prstGeom>
          <a:solidFill>
            <a:srgbClr val="E5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611880" cy="3931920"/>
          </a:xfrm>
          <a:prstGeom prst="roundRect">
            <a:avLst>
              <a:gd name="adj" fmla="val 8000"/>
            </a:avLst>
          </a:prstGeom>
          <a:solidFill>
            <a:srgbClr val="F7FAFF"/>
          </a:solidFill>
          <a:ln w="12700">
            <a:solidFill>
              <a:srgbClr val="E5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91440" cy="3931920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75104"/>
            <a:ext cx="3200400" cy="3657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A1A2E"/>
                </a:solidFill>
                <a:latin typeface="Microsoft YaHei"/>
                <a:ea typeface="Microsoft YaHei"/>
              </a:rPr>
              <a:t>Mock 后端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api/auth.js 用 Promise + setTimeout 模拟网络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预置账号：刘道满 / demo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fakeToken 为 mock.&lt;base64&gt;.&lt;sig&gt;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1828800"/>
            <a:ext cx="3611880" cy="3931920"/>
          </a:xfrm>
          <a:prstGeom prst="roundRect">
            <a:avLst>
              <a:gd name="adj" fmla="val 8000"/>
            </a:avLst>
          </a:prstGeom>
          <a:solidFill>
            <a:srgbClr val="F7FAFF"/>
          </a:solidFill>
          <a:ln w="12700">
            <a:solidFill>
              <a:srgbClr val="E5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88536" y="1828800"/>
            <a:ext cx="91440" cy="3931920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975104"/>
            <a:ext cx="3200400" cy="3657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A1A2E"/>
                </a:solidFill>
                <a:latin typeface="Microsoft YaHei"/>
                <a:ea typeface="Microsoft YaHei"/>
              </a:rPr>
              <a:t>路由守卫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未登录访问受保护页 → 跳登录（记录来源）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已登录访问登录页 → 跳首页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createWebHashHistory 模式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1828800"/>
            <a:ext cx="3611880" cy="3931920"/>
          </a:xfrm>
          <a:prstGeom prst="roundRect">
            <a:avLst>
              <a:gd name="adj" fmla="val 8000"/>
            </a:avLst>
          </a:prstGeom>
          <a:solidFill>
            <a:srgbClr val="F7FAFF"/>
          </a:solidFill>
          <a:ln w="12700">
            <a:solidFill>
              <a:srgbClr val="E5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28432" y="1828800"/>
            <a:ext cx="91440" cy="3931920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975104"/>
            <a:ext cx="3200400" cy="3657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A1A2E"/>
                </a:solidFill>
                <a:latin typeface="Microsoft YaHei"/>
                <a:ea typeface="Microsoft YaHei"/>
              </a:rPr>
              <a:t>登录态持久化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auth store 持久化 token / user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init() 刷新页面校验登录态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失效则清空并跳登录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Markdown 笔记本 · 项目说明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66928"/>
            <a:ext cx="128016" cy="566928"/>
          </a:xfrm>
          <a:prstGeom prst="roundRect">
            <a:avLst>
              <a:gd name="adj" fmla="val 8000"/>
            </a:avLst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02920"/>
            <a:ext cx="1060704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890FF"/>
                </a:solidFill>
                <a:latin typeface="Microsoft YaHei"/>
                <a:ea typeface="Microsoft YaHei"/>
              </a:rPr>
              <a:t>EDITOR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A1A2E"/>
                </a:solidFill>
                <a:latin typeface="Microsoft YaHei"/>
                <a:ea typeface="Microsoft YaHei"/>
              </a:rPr>
              <a:t>编辑器设计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1091672" cy="17780"/>
          </a:xfrm>
          <a:prstGeom prst="rect">
            <a:avLst/>
          </a:prstGeom>
          <a:solidFill>
            <a:srgbClr val="E5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6035040" cy="4114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890FF"/>
                </a:solidFill>
                <a:latin typeface="Microsoft YaHei"/>
                <a:ea typeface="Microsoft YaHei"/>
              </a:rPr>
              <a:t>• </a:t>
            </a:r>
            <a:r>
              <a:rPr sz="1400" b="1">
                <a:solidFill>
                  <a:srgbClr val="1A1A2E"/>
                </a:solidFill>
                <a:latin typeface="Microsoft YaHei"/>
                <a:ea typeface="Microsoft YaHei"/>
              </a:rPr>
              <a:t>标题输入：</a:t>
            </a:r>
            <a:r>
              <a:rPr sz="1400" b="0">
                <a:solidFill>
                  <a:srgbClr val="1A1A2E"/>
                </a:solidFill>
                <a:latin typeface="Microsoft YaHei"/>
                <a:ea typeface="Microsoft YaHei"/>
              </a:rPr>
              <a:t> 顶部无边框输入框，留空显示「未命名笔记」。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890FF"/>
                </a:solidFill>
                <a:latin typeface="Microsoft YaHei"/>
                <a:ea typeface="Microsoft YaHei"/>
              </a:rPr>
              <a:t>• </a:t>
            </a:r>
            <a:r>
              <a:rPr sz="1400" b="1">
                <a:solidFill>
                  <a:srgbClr val="1A1A2E"/>
                </a:solidFill>
                <a:latin typeface="Microsoft YaHei"/>
                <a:ea typeface="Microsoft YaHei"/>
              </a:rPr>
              <a:t>标签栏：</a:t>
            </a:r>
            <a:r>
              <a:rPr sz="1400" b="0">
                <a:solidFill>
                  <a:srgbClr val="1A1A2E"/>
                </a:solidFill>
                <a:latin typeface="Microsoft YaHei"/>
                <a:ea typeface="Microsoft YaHei"/>
              </a:rPr>
              <a:t> a-select mode=tags，输入回车即添加。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890FF"/>
                </a:solidFill>
                <a:latin typeface="Microsoft YaHei"/>
                <a:ea typeface="Microsoft YaHei"/>
              </a:rPr>
              <a:t>• </a:t>
            </a:r>
            <a:r>
              <a:rPr sz="1400" b="1">
                <a:solidFill>
                  <a:srgbClr val="1A1A2E"/>
                </a:solidFill>
                <a:latin typeface="Microsoft YaHei"/>
                <a:ea typeface="Microsoft YaHei"/>
              </a:rPr>
              <a:t>左右分屏：</a:t>
            </a:r>
            <a:r>
              <a:rPr sz="1400" b="0">
                <a:solidFill>
                  <a:srgbClr val="1A1A2E"/>
                </a:solidFill>
                <a:latin typeface="Microsoft YaHei"/>
                <a:ea typeface="Microsoft YaHei"/>
              </a:rPr>
              <a:t> 左 Markdown 编辑 / 右实时预览。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890FF"/>
                </a:solidFill>
                <a:latin typeface="Microsoft YaHei"/>
                <a:ea typeface="Microsoft YaHei"/>
              </a:rPr>
              <a:t>• </a:t>
            </a:r>
            <a:r>
              <a:rPr sz="1400" b="1">
                <a:solidFill>
                  <a:srgbClr val="1A1A2E"/>
                </a:solidFill>
                <a:latin typeface="Microsoft YaHei"/>
                <a:ea typeface="Microsoft YaHei"/>
              </a:rPr>
              <a:t>折叠模式：</a:t>
            </a:r>
            <a:r>
              <a:rPr sz="1400" b="0">
                <a:solidFill>
                  <a:srgbClr val="1A1A2E"/>
                </a:solidFill>
                <a:latin typeface="Microsoft YaHei"/>
                <a:ea typeface="Microsoft YaHei"/>
              </a:rPr>
              <a:t> 折叠编辑 / 折叠预览，互斥，至少一个展开。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890FF"/>
                </a:solidFill>
                <a:latin typeface="Microsoft YaHei"/>
                <a:ea typeface="Microsoft YaHei"/>
              </a:rPr>
              <a:t>• </a:t>
            </a:r>
            <a:r>
              <a:rPr sz="1400" b="1">
                <a:solidFill>
                  <a:srgbClr val="1A1A2E"/>
                </a:solidFill>
                <a:latin typeface="Microsoft YaHei"/>
                <a:ea typeface="Microsoft YaHei"/>
              </a:rPr>
              <a:t>星标收藏：</a:t>
            </a:r>
            <a:r>
              <a:rPr sz="1400" b="0">
                <a:solidFill>
                  <a:srgbClr val="1A1A2E"/>
                </a:solidFill>
                <a:latin typeface="Microsoft YaHei"/>
                <a:ea typeface="Microsoft YaHei"/>
              </a:rPr>
              <a:t> 金色星标，列表中标星快速定位。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890FF"/>
                </a:solidFill>
                <a:latin typeface="Microsoft YaHei"/>
                <a:ea typeface="Microsoft YaHei"/>
              </a:rPr>
              <a:t>• </a:t>
            </a:r>
            <a:r>
              <a:rPr sz="1400" b="1">
                <a:solidFill>
                  <a:srgbClr val="1A1A2E"/>
                </a:solidFill>
                <a:latin typeface="Microsoft YaHei"/>
                <a:ea typeface="Microsoft YaHei"/>
              </a:rPr>
              <a:t>删除保护：</a:t>
            </a:r>
            <a:r>
              <a:rPr sz="1400" b="0">
                <a:solidFill>
                  <a:srgbClr val="1A1A2E"/>
                </a:solidFill>
                <a:latin typeface="Microsoft YaHei"/>
                <a:ea typeface="Microsoft YaHei"/>
              </a:rPr>
              <a:t> popconfirm 二次确认，防误删。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828800"/>
            <a:ext cx="4782312" cy="4114800"/>
          </a:xfrm>
          <a:prstGeom prst="roundRect">
            <a:avLst>
              <a:gd name="adj" fmla="val 8000"/>
            </a:avLst>
          </a:prstGeom>
          <a:solidFill>
            <a:srgbClr val="F7FAFF"/>
          </a:solidFill>
          <a:ln w="12700">
            <a:solidFill>
              <a:srgbClr val="E5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0" y="1828800"/>
            <a:ext cx="91440" cy="4114800"/>
          </a:xfrm>
          <a:prstGeom prst="rect">
            <a:avLst/>
          </a:prstGeom>
          <a:solidFill>
            <a:srgbClr val="FAA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4032" y="1975104"/>
            <a:ext cx="4370832" cy="3840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A1A2E"/>
                </a:solidFill>
                <a:latin typeface="Microsoft YaHei"/>
                <a:ea typeface="Microsoft YaHei"/>
              </a:rPr>
              <a:t>交互亮点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FAAD14"/>
                </a:solidFill>
                <a:latin typeface="Microsoft YaHei"/>
                <a:ea typeface="Microsoft YaHei"/>
              </a:rPr>
              <a:t>– </a:t>
            </a: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实时预览，所见即所得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FAAD14"/>
                </a:solidFill>
                <a:latin typeface="Microsoft YaHei"/>
                <a:ea typeface="Microsoft YaHei"/>
              </a:rPr>
              <a:t>– </a:t>
            </a: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防抖自动保存，无需手动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FAAD14"/>
                </a:solidFill>
                <a:latin typeface="Microsoft YaHei"/>
                <a:ea typeface="Microsoft YaHei"/>
              </a:rPr>
              <a:t>– </a:t>
            </a: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折叠给写作 / 阅读更大空间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FAAD14"/>
                </a:solidFill>
                <a:latin typeface="Microsoft YaHei"/>
                <a:ea typeface="Microsoft YaHei"/>
              </a:rPr>
              <a:t>– </a:t>
            </a: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公式渲染失败以红色提示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FAAD14"/>
                </a:solidFill>
                <a:latin typeface="Microsoft YaHei"/>
                <a:ea typeface="Microsoft YaHei"/>
              </a:rPr>
              <a:t>– </a:t>
            </a: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空状态引导新建 / 选择笔记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Markdown 笔记本 · 项目说明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66928"/>
            <a:ext cx="128016" cy="566928"/>
          </a:xfrm>
          <a:prstGeom prst="roundRect">
            <a:avLst>
              <a:gd name="adj" fmla="val 8000"/>
            </a:avLst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02920"/>
            <a:ext cx="1060704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890FF"/>
                </a:solidFill>
                <a:latin typeface="Microsoft YaHei"/>
                <a:ea typeface="Microsoft YaHei"/>
              </a:rPr>
              <a:t>TAGS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A1A2E"/>
                </a:solidFill>
                <a:latin typeface="Microsoft YaHei"/>
                <a:ea typeface="Microsoft YaHei"/>
              </a:rPr>
              <a:t>标签系统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1091672" cy="17780"/>
          </a:xfrm>
          <a:prstGeom prst="rect">
            <a:avLst/>
          </a:prstGeom>
          <a:solidFill>
            <a:srgbClr val="E5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6035040" cy="4114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1890FF"/>
                </a:solidFill>
                <a:latin typeface="Microsoft YaHei"/>
                <a:ea typeface="Microsoft YaHei"/>
              </a:rPr>
              <a:t>• </a:t>
            </a:r>
            <a:r>
              <a:rPr sz="1450" b="1">
                <a:solidFill>
                  <a:srgbClr val="1A1A2E"/>
                </a:solidFill>
                <a:latin typeface="Microsoft YaHei"/>
                <a:ea typeface="Microsoft YaHei"/>
              </a:rPr>
              <a:t>用户级标签空间：</a:t>
            </a:r>
            <a:r>
              <a:rPr sz="1450" b="0">
                <a:solidFill>
                  <a:srgbClr val="1A1A2E"/>
                </a:solidFill>
                <a:latin typeface="Microsoft YaHei"/>
                <a:ea typeface="Microsoft YaHei"/>
              </a:rPr>
              <a:t> 首次使用初始化默认标签：学习 / 生活 / 代码 / 随笔。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1890FF"/>
                </a:solidFill>
                <a:latin typeface="Microsoft YaHei"/>
                <a:ea typeface="Microsoft YaHei"/>
              </a:rPr>
              <a:t>• </a:t>
            </a:r>
            <a:r>
              <a:rPr sz="1450" b="1">
                <a:solidFill>
                  <a:srgbClr val="1A1A2E"/>
                </a:solidFill>
                <a:latin typeface="Microsoft YaHei"/>
                <a:ea typeface="Microsoft YaHei"/>
              </a:rPr>
              <a:t>新增：</a:t>
            </a:r>
            <a:r>
              <a:rPr sz="1450" b="0">
                <a:solidFill>
                  <a:srgbClr val="1A1A2E"/>
                </a:solidFill>
                <a:latin typeface="Microsoft YaHei"/>
                <a:ea typeface="Microsoft YaHei"/>
              </a:rPr>
              <a:t> 编辑区输入回车，或标签管理弹窗添加。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1890FF"/>
                </a:solidFill>
                <a:latin typeface="Microsoft YaHei"/>
                <a:ea typeface="Microsoft YaHei"/>
              </a:rPr>
              <a:t>• </a:t>
            </a:r>
            <a:r>
              <a:rPr sz="1450" b="1">
                <a:solidFill>
                  <a:srgbClr val="1A1A2E"/>
                </a:solidFill>
                <a:latin typeface="Microsoft YaHei"/>
                <a:ea typeface="Microsoft YaHei"/>
              </a:rPr>
              <a:t>重命名：</a:t>
            </a:r>
            <a:r>
              <a:rPr sz="1450" b="0">
                <a:solidFill>
                  <a:srgbClr val="1A1A2E"/>
                </a:solidFill>
                <a:latin typeface="Microsoft YaHei"/>
                <a:ea typeface="Microsoft YaHei"/>
              </a:rPr>
              <a:t> 同步更新所有笔记中的同名标签。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1890FF"/>
                </a:solidFill>
                <a:latin typeface="Microsoft YaHei"/>
                <a:ea typeface="Microsoft YaHei"/>
              </a:rPr>
              <a:t>• </a:t>
            </a:r>
            <a:r>
              <a:rPr sz="1450" b="1">
                <a:solidFill>
                  <a:srgbClr val="1A1A2E"/>
                </a:solidFill>
                <a:latin typeface="Microsoft YaHei"/>
                <a:ea typeface="Microsoft YaHei"/>
              </a:rPr>
              <a:t>删除：</a:t>
            </a:r>
            <a:r>
              <a:rPr sz="1450" b="0">
                <a:solidFill>
                  <a:srgbClr val="1A1A2E"/>
                </a:solidFill>
                <a:latin typeface="Microsoft YaHei"/>
                <a:ea typeface="Microsoft YaHei"/>
              </a:rPr>
              <a:t> 从标签库及所有笔记一并移除（笔记本身不删）。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1890FF"/>
                </a:solidFill>
                <a:latin typeface="Microsoft YaHei"/>
                <a:ea typeface="Microsoft YaHei"/>
              </a:rPr>
              <a:t>• </a:t>
            </a:r>
            <a:r>
              <a:rPr sz="1450" b="1">
                <a:solidFill>
                  <a:srgbClr val="1A1A2E"/>
                </a:solidFill>
                <a:latin typeface="Microsoft YaHei"/>
                <a:ea typeface="Microsoft YaHei"/>
              </a:rPr>
              <a:t>自动收录：</a:t>
            </a:r>
            <a:r>
              <a:rPr sz="1450" b="0">
                <a:solidFill>
                  <a:srgbClr val="1A1A2E"/>
                </a:solidFill>
                <a:latin typeface="Microsoft YaHei"/>
                <a:ea typeface="Microsoft YaHei"/>
              </a:rPr>
              <a:t> 新标签自动进入标签库，跨笔记复用。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828800"/>
            <a:ext cx="4782312" cy="4114800"/>
          </a:xfrm>
          <a:prstGeom prst="roundRect">
            <a:avLst>
              <a:gd name="adj" fmla="val 8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// 默认标签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const DEFAULT_TAGS = [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  '学习', '生活',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  '代码', '随笔'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]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// 重命名：同步到所有笔记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function renameTag(oldName, newName){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  ...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  notes.forEach(note =&gt; {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    note.tags = note.tags.map(t =&gt;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      t === oldName ? newName : t)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  })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250">
                <a:solidFill>
                  <a:srgbClr val="E6EDF3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Markdown 笔记本 · 项目说明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66928"/>
            <a:ext cx="128016" cy="566928"/>
          </a:xfrm>
          <a:prstGeom prst="roundRect">
            <a:avLst>
              <a:gd name="adj" fmla="val 8000"/>
            </a:avLst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02920"/>
            <a:ext cx="1060704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890FF"/>
                </a:solidFill>
                <a:latin typeface="Microsoft YaHei"/>
                <a:ea typeface="Microsoft YaHei"/>
              </a:rPr>
              <a:t>IMPORT / EXPORT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A1A2E"/>
                </a:solidFill>
                <a:latin typeface="Microsoft YaHei"/>
                <a:ea typeface="Microsoft YaHei"/>
              </a:rPr>
              <a:t>导入与导出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1091672" cy="17780"/>
          </a:xfrm>
          <a:prstGeom prst="rect">
            <a:avLst/>
          </a:prstGeom>
          <a:solidFill>
            <a:srgbClr val="E5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40680" cy="4114800"/>
          </a:xfrm>
          <a:prstGeom prst="roundRect">
            <a:avLst>
              <a:gd name="adj" fmla="val 8000"/>
            </a:avLst>
          </a:prstGeom>
          <a:solidFill>
            <a:srgbClr val="F7FAFF"/>
          </a:solidFill>
          <a:ln w="12700">
            <a:solidFill>
              <a:srgbClr val="E5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91440" cy="4114800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75104"/>
            <a:ext cx="5029200" cy="3840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A1A2E"/>
                </a:solidFill>
                <a:latin typeface="Microsoft YaHei"/>
                <a:ea typeface="Microsoft YaHei"/>
              </a:rPr>
              <a:t>导出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勾选笔记（默认全选）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支持弹窗内搜索筛选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JSON：完整结构化数据，便于再导入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Markdown：.md 纯文本，# 标题开头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文件以日期命名下载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828800"/>
            <a:ext cx="5440680" cy="4114800"/>
          </a:xfrm>
          <a:prstGeom prst="roundRect">
            <a:avLst>
              <a:gd name="adj" fmla="val 8000"/>
            </a:avLst>
          </a:prstGeom>
          <a:solidFill>
            <a:srgbClr val="F7FAFF"/>
          </a:solidFill>
          <a:ln w="12700">
            <a:solidFill>
              <a:srgbClr val="E5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828800"/>
            <a:ext cx="91440" cy="4114800"/>
          </a:xfrm>
          <a:prstGeom prst="rect">
            <a:avLst/>
          </a:prstGeom>
          <a:solidFill>
            <a:srgbClr val="FAA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975104"/>
            <a:ext cx="5029200" cy="3840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A1A2E"/>
                </a:solidFill>
                <a:latin typeface="Microsoft YaHei"/>
                <a:ea typeface="Microsoft YaHei"/>
              </a:rPr>
              <a:t>导入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AAD14"/>
                </a:solidFill>
                <a:latin typeface="Microsoft YaHei"/>
                <a:ea typeface="Microsoft YaHei"/>
              </a:rPr>
              <a:t>– </a:t>
            </a: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支持 .json / .md / .markdown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AAD14"/>
                </a:solidFill>
                <a:latin typeface="Microsoft YaHei"/>
                <a:ea typeface="Microsoft YaHei"/>
              </a:rPr>
              <a:t>– </a:t>
            </a: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新建文档（合并，按 id 去重，推荐）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AAD14"/>
                </a:solidFill>
                <a:latin typeface="Microsoft YaHei"/>
                <a:ea typeface="Microsoft YaHei"/>
              </a:rPr>
              <a:t>– </a:t>
            </a: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覆盖当前（替换全部，谨慎）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AAD14"/>
                </a:solidFill>
                <a:latin typeface="Microsoft YaHei"/>
                <a:ea typeface="Microsoft YaHei"/>
              </a:rPr>
              <a:t>– </a:t>
            </a: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JSON 兼容其他应用字段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AAD14"/>
                </a:solidFill>
                <a:latin typeface="Microsoft YaHei"/>
                <a:ea typeface="Microsoft YaHei"/>
              </a:rPr>
              <a:t>– </a:t>
            </a: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（content / body / text 自动识别）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Markdown 笔记本 · 项目说明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66928"/>
            <a:ext cx="128016" cy="566928"/>
          </a:xfrm>
          <a:prstGeom prst="roundRect">
            <a:avLst>
              <a:gd name="adj" fmla="val 8000"/>
            </a:avLst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02920"/>
            <a:ext cx="1060704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890FF"/>
                </a:solidFill>
                <a:latin typeface="Microsoft YaHei"/>
                <a:ea typeface="Microsoft YaHei"/>
              </a:rPr>
              <a:t>GET STARTED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A1A2E"/>
                </a:solidFill>
                <a:latin typeface="Microsoft YaHei"/>
                <a:ea typeface="Microsoft YaHei"/>
              </a:rPr>
              <a:t>快速开始 &amp; 演示账号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1091672" cy="17780"/>
          </a:xfrm>
          <a:prstGeom prst="rect">
            <a:avLst/>
          </a:prstGeom>
          <a:solidFill>
            <a:srgbClr val="E5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6035040" cy="2331720"/>
          </a:xfrm>
          <a:prstGeom prst="roundRect">
            <a:avLst>
              <a:gd name="adj" fmla="val 8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  <a:ea typeface="Consolas"/>
              </a:rPr>
              <a:t># 环境：Node ^22.18.0 或 &gt;=24.12.0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  <a:ea typeface="Consolas"/>
              </a:rPr>
              <a:t>npm install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  <a:ea typeface="Consolas"/>
              </a:rPr>
              <a:t>npm run dev      # http://localhost:5173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  <a:ea typeface="Consolas"/>
              </a:rPr>
              <a:t>npm run build    # 输出 dist/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>
                <a:solidFill>
                  <a:srgbClr val="E6EDF3"/>
                </a:solidFill>
                <a:latin typeface="Consolas"/>
                <a:ea typeface="Consolas"/>
              </a:rPr>
              <a:t>npm run preview  # 预览构建产物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343400"/>
            <a:ext cx="6035040" cy="1600200"/>
          </a:xfrm>
          <a:prstGeom prst="roundRect">
            <a:avLst>
              <a:gd name="adj" fmla="val 8000"/>
            </a:avLst>
          </a:prstGeom>
          <a:solidFill>
            <a:srgbClr val="F7FAFF"/>
          </a:solidFill>
          <a:ln w="12700">
            <a:solidFill>
              <a:srgbClr val="E5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343400"/>
            <a:ext cx="91440" cy="1600200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489704"/>
            <a:ext cx="5623560" cy="1325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A1A2E"/>
                </a:solidFill>
                <a:latin typeface="Microsoft YaHei"/>
                <a:ea typeface="Microsoft YaHei"/>
              </a:rPr>
              <a:t>首次登录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自动创建欢迎笔记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初始化默认标签：学习/生活/代码/随笔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1828800"/>
            <a:ext cx="4782312" cy="548640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828800"/>
            <a:ext cx="4782312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演示账号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2377440"/>
            <a:ext cx="478231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5160" y="2377440"/>
            <a:ext cx="17373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Microsoft YaHei"/>
                <a:ea typeface="Microsoft YaHei"/>
              </a:rPr>
              <a:t>账号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2377440"/>
            <a:ext cx="155448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Microsoft YaHei"/>
                <a:ea typeface="Microsoft YaHei"/>
              </a:rPr>
              <a:t>密码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2377440"/>
            <a:ext cx="1490472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Microsoft YaHei"/>
                <a:ea typeface="Microsoft YaHei"/>
              </a:rPr>
              <a:t>昵称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2926080"/>
            <a:ext cx="4782312" cy="566928"/>
          </a:xfrm>
          <a:prstGeom prst="rect">
            <a:avLst/>
          </a:prstGeom>
          <a:solidFill>
            <a:srgbClr val="F2F8FF"/>
          </a:solidFill>
          <a:ln w="9525">
            <a:solidFill>
              <a:srgbClr val="E5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60" y="2926080"/>
            <a:ext cx="17373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刘道满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926080"/>
            <a:ext cx="155448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123456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2926080"/>
            <a:ext cx="1490472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刘道满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3474720"/>
            <a:ext cx="478231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3474720"/>
            <a:ext cx="173736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demo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3474720"/>
            <a:ext cx="155448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3474720"/>
            <a:ext cx="1490472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体验用户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Markdown 笔记本 · 项目说明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4652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66928"/>
            <a:ext cx="128016" cy="566928"/>
          </a:xfrm>
          <a:prstGeom prst="roundRect">
            <a:avLst>
              <a:gd name="adj" fmla="val 8000"/>
            </a:avLst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02920"/>
            <a:ext cx="1060704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890FF"/>
                </a:solidFill>
                <a:latin typeface="Microsoft YaHei"/>
                <a:ea typeface="Microsoft YaHei"/>
              </a:rPr>
              <a:t>LIMITATIONS &amp; ROADMAP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A1A2E"/>
                </a:solidFill>
                <a:latin typeface="Microsoft YaHei"/>
                <a:ea typeface="Microsoft YaHei"/>
              </a:rPr>
              <a:t>已知限制 &amp; 后续扩展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11091672" cy="17780"/>
          </a:xfrm>
          <a:prstGeom prst="rect">
            <a:avLst/>
          </a:prstGeom>
          <a:solidFill>
            <a:srgbClr val="E5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40680" cy="4114800"/>
          </a:xfrm>
          <a:prstGeom prst="roundRect">
            <a:avLst>
              <a:gd name="adj" fmla="val 8000"/>
            </a:avLst>
          </a:prstGeom>
          <a:solidFill>
            <a:srgbClr val="F7FAFF"/>
          </a:solidFill>
          <a:ln w="12700">
            <a:solidFill>
              <a:srgbClr val="E5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91440" cy="4114800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75104"/>
            <a:ext cx="5029200" cy="3840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A1A2E"/>
                </a:solidFill>
                <a:latin typeface="Microsoft YaHei"/>
                <a:ea typeface="Microsoft YaHei"/>
              </a:rPr>
              <a:t>已知限制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CF1322"/>
                </a:solidFill>
                <a:latin typeface="Microsoft YaHei"/>
                <a:ea typeface="Microsoft YaHei"/>
              </a:rPr>
              <a:t>– </a:t>
            </a: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本地存储，换浏览器 / 清缓存会丢失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CF1322"/>
                </a:solidFill>
                <a:latin typeface="Microsoft YaHei"/>
                <a:ea typeface="Microsoft YaHei"/>
              </a:rPr>
              <a:t>– </a:t>
            </a: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建议定期导出备份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CF1322"/>
                </a:solidFill>
                <a:latin typeface="Microsoft YaHei"/>
                <a:ea typeface="Microsoft YaHei"/>
              </a:rPr>
              <a:t>– </a:t>
            </a: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认证为 Mock，token 非真实 JWT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CF1322"/>
                </a:solidFill>
                <a:latin typeface="Microsoft YaHei"/>
                <a:ea typeface="Microsoft YaHei"/>
              </a:rPr>
              <a:t>– </a:t>
            </a: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仅用于演示，无服务端安全校验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828800"/>
            <a:ext cx="5440680" cy="4114800"/>
          </a:xfrm>
          <a:prstGeom prst="roundRect">
            <a:avLst>
              <a:gd name="adj" fmla="val 8000"/>
            </a:avLst>
          </a:prstGeom>
          <a:solidFill>
            <a:srgbClr val="F7FAFF"/>
          </a:solidFill>
          <a:ln w="12700">
            <a:solidFill>
              <a:srgbClr val="E5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828800"/>
            <a:ext cx="91440" cy="4114800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975104"/>
            <a:ext cx="5029200" cy="3840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A1A2E"/>
                </a:solidFill>
                <a:latin typeface="Microsoft YaHei"/>
                <a:ea typeface="Microsoft YaHei"/>
              </a:rPr>
              <a:t>后续可扩展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接入真实后端与云同步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富文本可视化工具栏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PDF 导出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多人协作编辑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890FF"/>
                </a:solidFill>
                <a:latin typeface="Microsoft YaHei"/>
                <a:ea typeface="Microsoft YaHei"/>
              </a:rPr>
              <a:t>– </a:t>
            </a: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图片上传与管理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Markdown 笔记本 · 项目说明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8229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12801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43200"/>
            <a:ext cx="10424160" cy="2926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FAAD14"/>
                </a:solidFill>
                <a:latin typeface="Microsoft YaHei"/>
                <a:ea typeface="Microsoft YaHei"/>
              </a:rPr>
              <a:t>• </a:t>
            </a:r>
            <a:r>
              <a:rPr sz="1600" b="1">
                <a:solidFill>
                  <a:srgbClr val="1A1A2E"/>
                </a:solidFill>
                <a:latin typeface="Microsoft YaHei"/>
                <a:ea typeface="Microsoft YaHei"/>
              </a:rPr>
              <a:t>轻量零依赖：</a:t>
            </a:r>
            <a:r>
              <a:rPr sz="1600" b="0">
                <a:solidFill>
                  <a:srgbClr val="D6DEEE"/>
                </a:solidFill>
                <a:latin typeface="Microsoft YaHei"/>
                <a:ea typeface="Microsoft YaHei"/>
              </a:rPr>
              <a:t> 纯前端、本地优先，开箱即用，适合个人写作与公式记录。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FAAD14"/>
                </a:solidFill>
                <a:latin typeface="Microsoft YaHei"/>
                <a:ea typeface="Microsoft YaHei"/>
              </a:rPr>
              <a:t>• </a:t>
            </a:r>
            <a:r>
              <a:rPr sz="1600" b="1">
                <a:solidFill>
                  <a:srgbClr val="1A1A2E"/>
                </a:solidFill>
                <a:latin typeface="Microsoft YaHei"/>
                <a:ea typeface="Microsoft YaHei"/>
              </a:rPr>
              <a:t>能力完整：</a:t>
            </a:r>
            <a:r>
              <a:rPr sz="1600" b="0">
                <a:solidFill>
                  <a:srgbClr val="D6DEEE"/>
                </a:solidFill>
                <a:latin typeface="Microsoft YaHei"/>
                <a:ea typeface="Microsoft YaHei"/>
              </a:rPr>
              <a:t> 实时预览、LaTeX 公式、标签管理、导入导出一应俱全。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FAAD14"/>
                </a:solidFill>
                <a:latin typeface="Microsoft YaHei"/>
                <a:ea typeface="Microsoft YaHei"/>
              </a:rPr>
              <a:t>• </a:t>
            </a:r>
            <a:r>
              <a:rPr sz="1600" b="1">
                <a:solidFill>
                  <a:srgbClr val="1A1A2E"/>
                </a:solidFill>
                <a:latin typeface="Microsoft YaHei"/>
                <a:ea typeface="Microsoft YaHei"/>
              </a:rPr>
              <a:t>架构清晰：</a:t>
            </a:r>
            <a:r>
              <a:rPr sz="1600" b="0">
                <a:solidFill>
                  <a:srgbClr val="D6DEEE"/>
                </a:solidFill>
                <a:latin typeface="Microsoft YaHei"/>
                <a:ea typeface="Microsoft YaHei"/>
              </a:rPr>
              <a:t> 数据隔离、统一渲染流水线、自动保存，易于接入真实后端。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FAAD14"/>
                </a:solidFill>
                <a:latin typeface="Microsoft YaHei"/>
                <a:ea typeface="Microsoft YaHei"/>
              </a:rPr>
              <a:t>• </a:t>
            </a:r>
            <a:r>
              <a:rPr sz="1600" b="1">
                <a:solidFill>
                  <a:srgbClr val="1A1A2E"/>
                </a:solidFill>
                <a:latin typeface="Microsoft YaHei"/>
                <a:ea typeface="Microsoft YaHei"/>
              </a:rPr>
              <a:t>可演进：</a:t>
            </a:r>
            <a:r>
              <a:rPr sz="1600" b="0">
                <a:solidFill>
                  <a:srgbClr val="D6DEEE"/>
                </a:solidFill>
                <a:latin typeface="Microsoft YaHei"/>
                <a:ea typeface="Microsoft YaHei"/>
              </a:rPr>
              <a:t> Mock 层设计让认证 / 存储替换为零成本。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03504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DC8FF"/>
                </a:solidFill>
                <a:latin typeface="Microsoft YaHei"/>
                <a:ea typeface="Microsoft YaHei"/>
              </a:rPr>
              <a:t>祝你写作愉快 ✍  如有更多功能需求，欢迎反馈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